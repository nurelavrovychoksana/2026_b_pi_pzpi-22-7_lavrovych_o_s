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18"/>
  </p:notesMasterIdLst>
  <p:sldIdLst>
    <p:sldId id="257" r:id="rId2"/>
    <p:sldId id="258" r:id="rId3"/>
    <p:sldId id="263" r:id="rId4"/>
    <p:sldId id="260" r:id="rId5"/>
    <p:sldId id="262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sana Lavrovich" userId="7913b34f0be8f175" providerId="LiveId" clId="{D1C4C358-CC99-4352-B36C-4A3955E2C250}"/>
    <pc:docChg chg="undo redo custSel delSld modSld">
      <pc:chgData name="Oksana Lavrovich" userId="7913b34f0be8f175" providerId="LiveId" clId="{D1C4C358-CC99-4352-B36C-4A3955E2C250}" dt="2026-07-09T03:15:00.228" v="314" actId="20577"/>
      <pc:docMkLst>
        <pc:docMk/>
      </pc:docMkLst>
      <pc:sldChg chg="delSp modSp mod">
        <pc:chgData name="Oksana Lavrovich" userId="7913b34f0be8f175" providerId="LiveId" clId="{D1C4C358-CC99-4352-B36C-4A3955E2C250}" dt="2026-07-02T23:32:15.429" v="86" actId="20577"/>
        <pc:sldMkLst>
          <pc:docMk/>
          <pc:sldMk cId="0" sldId="257"/>
        </pc:sldMkLst>
        <pc:spChg chg="mod">
          <ac:chgData name="Oksana Lavrovich" userId="7913b34f0be8f175" providerId="LiveId" clId="{D1C4C358-CC99-4352-B36C-4A3955E2C250}" dt="2026-07-02T23:32:15.429" v="86" actId="20577"/>
          <ac:spMkLst>
            <pc:docMk/>
            <pc:sldMk cId="0" sldId="257"/>
            <ac:spMk id="331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7-03T00:55:36.433" v="163" actId="20577"/>
        <pc:sldMkLst>
          <pc:docMk/>
          <pc:sldMk cId="0" sldId="258"/>
        </pc:sldMkLst>
        <pc:spChg chg="mod">
          <ac:chgData name="Oksana Lavrovich" userId="7913b34f0be8f175" providerId="LiveId" clId="{D1C4C358-CC99-4352-B36C-4A3955E2C250}" dt="2026-06-20T00:49:14.305" v="68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0:55:36.433" v="163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del mod">
        <pc:chgData name="Oksana Lavrovich" userId="7913b34f0be8f175" providerId="LiveId" clId="{D1C4C358-CC99-4352-B36C-4A3955E2C250}" dt="2026-07-09T02:53:40.557" v="313" actId="2696"/>
        <pc:sldMkLst>
          <pc:docMk/>
          <pc:sldMk cId="0" sldId="259"/>
        </pc:sldMkLst>
      </pc:sldChg>
      <pc:sldChg chg="modSp mod">
        <pc:chgData name="Oksana Lavrovich" userId="7913b34f0be8f175" providerId="LiveId" clId="{D1C4C358-CC99-4352-B36C-4A3955E2C250}" dt="2026-07-03T01:10:25.445" v="284" actId="20577"/>
        <pc:sldMkLst>
          <pc:docMk/>
          <pc:sldMk cId="0" sldId="260"/>
        </pc:sldMkLst>
        <pc:spChg chg="mod">
          <ac:chgData name="Oksana Lavrovich" userId="7913b34f0be8f175" providerId="LiveId" clId="{D1C4C358-CC99-4352-B36C-4A3955E2C250}" dt="2026-07-03T00:55:21.047" v="153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9:58.713" v="262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10:25.445" v="284" actId="20577"/>
          <ac:spMkLst>
            <pc:docMk/>
            <pc:sldMk cId="0" sldId="260"/>
            <ac:spMk id="6" creationId="{00000000-0000-0000-0000-000000000000}"/>
          </ac:spMkLst>
        </pc:spChg>
      </pc:sldChg>
      <pc:sldChg chg="addSp delSp modSp mod">
        <pc:chgData name="Oksana Lavrovich" userId="7913b34f0be8f175" providerId="LiveId" clId="{D1C4C358-CC99-4352-B36C-4A3955E2C250}" dt="2026-07-03T01:09:37.341" v="261" actId="1076"/>
        <pc:sldMkLst>
          <pc:docMk/>
          <pc:sldMk cId="0" sldId="261"/>
        </pc:sldMkLst>
        <pc:spChg chg="mod">
          <ac:chgData name="Oksana Lavrovich" userId="7913b34f0be8f175" providerId="LiveId" clId="{D1C4C358-CC99-4352-B36C-4A3955E2C250}" dt="2026-06-20T00:49:57.836" v="71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9:22.313" v="260" actId="1076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Oksana Lavrovich" userId="7913b34f0be8f175" providerId="LiveId" clId="{D1C4C358-CC99-4352-B36C-4A3955E2C250}" dt="2026-07-03T01:09:37.341" v="261" actId="1076"/>
          <ac:spMkLst>
            <pc:docMk/>
            <pc:sldMk cId="0" sldId="261"/>
            <ac:spMk id="7" creationId="{041ED7F8-2468-5848-2696-7E9965A7CF76}"/>
          </ac:spMkLst>
        </pc:spChg>
        <pc:picChg chg="mod">
          <ac:chgData name="Oksana Lavrovich" userId="7913b34f0be8f175" providerId="LiveId" clId="{D1C4C358-CC99-4352-B36C-4A3955E2C250}" dt="2026-06-20T00:53:25.024" v="85" actId="1076"/>
          <ac:picMkLst>
            <pc:docMk/>
            <pc:sldMk cId="0" sldId="261"/>
            <ac:picMk id="9" creationId="{B3FBF0C8-6F92-5D4B-3B89-8BFB7ACB3D99}"/>
          </ac:picMkLst>
        </pc:picChg>
      </pc:sldChg>
      <pc:sldChg chg="modSp mod">
        <pc:chgData name="Oksana Lavrovich" userId="7913b34f0be8f175" providerId="LiveId" clId="{D1C4C358-CC99-4352-B36C-4A3955E2C250}" dt="2026-07-03T00:55:25.099" v="157" actId="20577"/>
        <pc:sldMkLst>
          <pc:docMk/>
          <pc:sldMk cId="0" sldId="262"/>
        </pc:sldMkLst>
        <pc:spChg chg="mod">
          <ac:chgData name="Oksana Lavrovich" userId="7913b34f0be8f175" providerId="LiveId" clId="{D1C4C358-CC99-4352-B36C-4A3955E2C250}" dt="2026-07-03T00:55:19.855" v="15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0:55:25.099" v="157" actId="20577"/>
          <ac:spMkLst>
            <pc:docMk/>
            <pc:sldMk cId="0" sldId="262"/>
            <ac:spMk id="19" creationId="{457E2D2D-FD7F-9DE4-0249-2B5E0BC3B92B}"/>
          </ac:spMkLst>
        </pc:spChg>
        <pc:spChg chg="mod">
          <ac:chgData name="Oksana Lavrovich" userId="7913b34f0be8f175" providerId="LiveId" clId="{D1C4C358-CC99-4352-B36C-4A3955E2C250}" dt="2026-07-03T00:53:28.261" v="135" actId="14100"/>
          <ac:spMkLst>
            <pc:docMk/>
            <pc:sldMk cId="0" sldId="262"/>
            <ac:spMk id="23" creationId="{1701519E-6FFB-09FD-5415-4B1F14F5C8B9}"/>
          </ac:spMkLst>
        </pc:spChg>
      </pc:sldChg>
      <pc:sldChg chg="modSp mod">
        <pc:chgData name="Oksana Lavrovich" userId="7913b34f0be8f175" providerId="LiveId" clId="{D1C4C358-CC99-4352-B36C-4A3955E2C250}" dt="2026-07-03T01:12:01.634" v="304" actId="20577"/>
        <pc:sldMkLst>
          <pc:docMk/>
          <pc:sldMk cId="0" sldId="263"/>
        </pc:sldMkLst>
        <pc:spChg chg="mod">
          <ac:chgData name="Oksana Lavrovich" userId="7913b34f0be8f175" providerId="LiveId" clId="{D1C4C358-CC99-4352-B36C-4A3955E2C250}" dt="2026-07-02T23:44:54.139" v="87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4:07.428" v="246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12:01.634" v="304" actId="20577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7-03T01:12:00.123" v="302" actId="20577"/>
        <pc:sldMkLst>
          <pc:docMk/>
          <pc:sldMk cId="0" sldId="264"/>
        </pc:sldMkLst>
        <pc:spChg chg="mod">
          <ac:chgData name="Oksana Lavrovich" userId="7913b34f0be8f175" providerId="LiveId" clId="{D1C4C358-CC99-4352-B36C-4A3955E2C250}" dt="2026-06-20T00:50:03.972" v="72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12:00.123" v="302" actId="20577"/>
          <ac:spMkLst>
            <pc:docMk/>
            <pc:sldMk cId="0" sldId="264"/>
            <ac:spMk id="8" creationId="{00000000-0000-0000-0000-000000000000}"/>
          </ac:spMkLst>
        </pc:spChg>
      </pc:sldChg>
      <pc:sldChg chg="addSp delSp modSp mod">
        <pc:chgData name="Oksana Lavrovich" userId="7913b34f0be8f175" providerId="LiveId" clId="{D1C4C358-CC99-4352-B36C-4A3955E2C250}" dt="2026-07-03T01:07:28.765" v="250" actId="20577"/>
        <pc:sldMkLst>
          <pc:docMk/>
          <pc:sldMk cId="0" sldId="265"/>
        </pc:sldMkLst>
        <pc:spChg chg="mod">
          <ac:chgData name="Oksana Lavrovich" userId="7913b34f0be8f175" providerId="LiveId" clId="{D1C4C358-CC99-4352-B36C-4A3955E2C250}" dt="2026-06-20T00:50:13.266" v="73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7:28.765" v="250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1:53.925" v="223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Oksana Lavrovich" userId="7913b34f0be8f175" providerId="LiveId" clId="{D1C4C358-CC99-4352-B36C-4A3955E2C250}" dt="2026-06-20T00:44:05.449" v="30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2T23:46:55.786" v="95" actId="1076"/>
          <ac:spMkLst>
            <pc:docMk/>
            <pc:sldMk cId="0" sldId="265"/>
            <ac:spMk id="10" creationId="{00000000-0000-0000-0000-000000000000}"/>
          </ac:spMkLst>
        </pc:spChg>
        <pc:picChg chg="add mod">
          <ac:chgData name="Oksana Lavrovich" userId="7913b34f0be8f175" providerId="LiveId" clId="{D1C4C358-CC99-4352-B36C-4A3955E2C250}" dt="2026-07-02T23:46:52.799" v="94" actId="1076"/>
          <ac:picMkLst>
            <pc:docMk/>
            <pc:sldMk cId="0" sldId="265"/>
            <ac:picMk id="11" creationId="{2C9E4711-3783-D12C-7CBC-5EE3FBEA25C3}"/>
          </ac:picMkLst>
        </pc:picChg>
      </pc:sldChg>
      <pc:sldChg chg="modSp mod">
        <pc:chgData name="Oksana Lavrovich" userId="7913b34f0be8f175" providerId="LiveId" clId="{D1C4C358-CC99-4352-B36C-4A3955E2C250}" dt="2026-07-03T01:01:20.158" v="217" actId="20577"/>
        <pc:sldMkLst>
          <pc:docMk/>
          <pc:sldMk cId="0" sldId="266"/>
        </pc:sldMkLst>
        <pc:spChg chg="mod">
          <ac:chgData name="Oksana Lavrovich" userId="7913b34f0be8f175" providerId="LiveId" clId="{D1C4C358-CC99-4352-B36C-4A3955E2C250}" dt="2026-06-20T00:50:18.092" v="74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1:20.158" v="217" actId="20577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7-09T03:15:00.228" v="314" actId="20577"/>
        <pc:sldMkLst>
          <pc:docMk/>
          <pc:sldMk cId="0" sldId="267"/>
        </pc:sldMkLst>
        <pc:spChg chg="mod">
          <ac:chgData name="Oksana Lavrovich" userId="7913b34f0be8f175" providerId="LiveId" clId="{D1C4C358-CC99-4352-B36C-4A3955E2C250}" dt="2026-06-20T00:50:24.673" v="75" actId="207"/>
          <ac:spMkLst>
            <pc:docMk/>
            <pc:sldMk cId="0" sldId="267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9T03:15:00.228" v="314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7-03T01:00:58.509" v="203" actId="20577"/>
        <pc:sldMkLst>
          <pc:docMk/>
          <pc:sldMk cId="0" sldId="268"/>
        </pc:sldMkLst>
        <pc:spChg chg="mod">
          <ac:chgData name="Oksana Lavrovich" userId="7913b34f0be8f175" providerId="LiveId" clId="{D1C4C358-CC99-4352-B36C-4A3955E2C250}" dt="2026-06-20T00:50:29.572" v="76" actId="207"/>
          <ac:spMkLst>
            <pc:docMk/>
            <pc:sldMk cId="0" sldId="268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0:58.509" v="203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7-03T01:00:44.080" v="195" actId="20577"/>
        <pc:sldMkLst>
          <pc:docMk/>
          <pc:sldMk cId="0" sldId="269"/>
        </pc:sldMkLst>
        <pc:spChg chg="mod">
          <ac:chgData name="Oksana Lavrovich" userId="7913b34f0be8f175" providerId="LiveId" clId="{D1C4C358-CC99-4352-B36C-4A3955E2C250}" dt="2026-06-20T00:50:34.225" v="77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0:44.080" v="195" actId="2057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6-20T00:50:39.144" v="78" actId="207"/>
        <pc:sldMkLst>
          <pc:docMk/>
          <pc:sldMk cId="0" sldId="270"/>
        </pc:sldMkLst>
        <pc:spChg chg="mod">
          <ac:chgData name="Oksana Lavrovich" userId="7913b34f0be8f175" providerId="LiveId" clId="{D1C4C358-CC99-4352-B36C-4A3955E2C250}" dt="2026-06-20T00:50:39.144" v="78" actId="20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Oksana Lavrovich" userId="7913b34f0be8f175" providerId="LiveId" clId="{D1C4C358-CC99-4352-B36C-4A3955E2C250}" dt="2026-06-20T00:50:42.851" v="79" actId="207"/>
        <pc:sldMkLst>
          <pc:docMk/>
          <pc:sldMk cId="0" sldId="271"/>
        </pc:sldMkLst>
        <pc:spChg chg="mod">
          <ac:chgData name="Oksana Lavrovich" userId="7913b34f0be8f175" providerId="LiveId" clId="{D1C4C358-CC99-4352-B36C-4A3955E2C250}" dt="2026-06-20T00:50:42.851" v="79" actId="207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mod">
        <pc:chgData name="Oksana Lavrovich" userId="7913b34f0be8f175" providerId="LiveId" clId="{D1C4C358-CC99-4352-B36C-4A3955E2C250}" dt="2026-07-03T01:06:19.069" v="249" actId="20577"/>
        <pc:sldMkLst>
          <pc:docMk/>
          <pc:sldMk cId="0" sldId="272"/>
        </pc:sldMkLst>
        <pc:spChg chg="mod">
          <ac:chgData name="Oksana Lavrovich" userId="7913b34f0be8f175" providerId="LiveId" clId="{D1C4C358-CC99-4352-B36C-4A3955E2C250}" dt="2026-06-20T00:50:49.139" v="80" actId="207"/>
          <ac:spMkLst>
            <pc:docMk/>
            <pc:sldMk cId="0" sldId="272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0:24.585" v="183" actId="20577"/>
          <ac:spMkLst>
            <pc:docMk/>
            <pc:sldMk cId="0" sldId="272"/>
            <ac:spMk id="6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6:19.069" v="249" actId="20577"/>
          <ac:spMkLst>
            <pc:docMk/>
            <pc:sldMk cId="0" sldId="272"/>
            <ac:spMk id="8" creationId="{00000000-0000-0000-0000-000000000000}"/>
          </ac:spMkLst>
        </pc:spChg>
        <pc:picChg chg="add mod">
          <ac:chgData name="Oksana Lavrovich" userId="7913b34f0be8f175" providerId="LiveId" clId="{D1C4C358-CC99-4352-B36C-4A3955E2C250}" dt="2026-07-02T23:51:19.405" v="106" actId="1076"/>
          <ac:picMkLst>
            <pc:docMk/>
            <pc:sldMk cId="0" sldId="272"/>
            <ac:picMk id="13" creationId="{DEBC5FEC-7419-EE03-F8C1-35BEBA4050AF}"/>
          </ac:picMkLst>
        </pc:picChg>
      </pc:sldChg>
      <pc:sldChg chg="modSp mod">
        <pc:chgData name="Oksana Lavrovich" userId="7913b34f0be8f175" providerId="LiveId" clId="{D1C4C358-CC99-4352-B36C-4A3955E2C250}" dt="2026-07-03T01:00:15.362" v="177" actId="20577"/>
        <pc:sldMkLst>
          <pc:docMk/>
          <pc:sldMk cId="0" sldId="273"/>
        </pc:sldMkLst>
        <pc:spChg chg="mod">
          <ac:chgData name="Oksana Lavrovich" userId="7913b34f0be8f175" providerId="LiveId" clId="{D1C4C358-CC99-4352-B36C-4A3955E2C250}" dt="2026-06-20T00:50:53.269" v="81" actId="207"/>
          <ac:spMkLst>
            <pc:docMk/>
            <pc:sldMk cId="0" sldId="273"/>
            <ac:spMk id="4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0:06.472" v="171" actId="20577"/>
          <ac:spMkLst>
            <pc:docMk/>
            <pc:sldMk cId="0" sldId="273"/>
            <ac:spMk id="6" creationId="{00000000-0000-0000-0000-000000000000}"/>
          </ac:spMkLst>
        </pc:spChg>
        <pc:spChg chg="mod">
          <ac:chgData name="Oksana Lavrovich" userId="7913b34f0be8f175" providerId="LiveId" clId="{D1C4C358-CC99-4352-B36C-4A3955E2C250}" dt="2026-07-03T01:00:15.362" v="177" actId="20577"/>
          <ac:spMkLst>
            <pc:docMk/>
            <pc:sldMk cId="0" sldId="27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3D30-2E5A-42BB-A5A8-8E3DCD9268D5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520C6-3D70-4F57-845C-EE97A7ED7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4" name="Google Shape;3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5" name="Google Shape;3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3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Arial"/>
              <a:buNone/>
              <a:defRPr sz="7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983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"/>
          <p:cNvSpPr txBox="1"/>
          <p:nvPr/>
        </p:nvSpPr>
        <p:spPr>
          <a:xfrm>
            <a:off x="856736" y="4712591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Виконала: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ern="0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т.гр. ПЗПІ-22-7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Лаврович О</a:t>
            </a:r>
            <a:r>
              <a:rPr lang="ru-RU" kern="0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ксана Степан</a:t>
            </a:r>
            <a:r>
              <a:rPr lang="uk-UA" kern="0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івна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"/>
          <p:cNvSpPr txBox="1"/>
          <p:nvPr/>
        </p:nvSpPr>
        <p:spPr>
          <a:xfrm>
            <a:off x="5239264" y="4712591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Науковий керівник: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доц. кафедри ПІ Ірина ГРУЗДО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"/>
          <p:cNvSpPr txBox="1"/>
          <p:nvPr/>
        </p:nvSpPr>
        <p:spPr>
          <a:xfrm>
            <a:off x="2844077" y="2803398"/>
            <a:ext cx="6096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Вебсистема для управління танцювальною студією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0710" y="121425"/>
            <a:ext cx="1924921" cy="4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5611" y="5908774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38CF2-F9E0-2DF7-417C-E2B6066ACB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Актуальність роботи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Кількість приватних танцювальних студій в Україні стабільно зростає</a:t>
            </a:r>
            <a:r>
              <a:rPr kumimoji="0" lang="ru-RU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Більшість малих студій ведуть розклад і облік у Excel або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папері</a:t>
            </a: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Запис і комунікація відбуваються через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месенджери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без синхронізації даних у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реальному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часі</a:t>
            </a: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Наявні SaaS-рішення орієнтовані на фітнес-мережі, не враховують специфіку танцювальної студії: ролі викладача-тренера, групи за стилями й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рівнями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home/claude/pptx_work/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62" y="1463040"/>
            <a:ext cx="3463716" cy="182880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7" name="Image 1" descr="/home/claude/pptx_work/image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916" y="3520440"/>
            <a:ext cx="3395609" cy="182880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766560" y="5577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B6B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Сайти студій залишаються </a:t>
            </a:r>
            <a:r>
              <a:rPr kumimoji="0" lang="en-US" sz="1200" b="0" i="1" u="none" strike="noStrike" kern="1200" cap="none" spc="0" normalizeH="0" baseline="0" noProof="0" err="1">
                <a:ln>
                  <a:noFill/>
                </a:ln>
                <a:solidFill>
                  <a:srgbClr val="6B6B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вітринами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B6B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без онлайн-запису й оплати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Мета роботи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Розробити веб-систему для автоматизації управління танцювальною студією з трьома ролями користувачів</a:t>
            </a:r>
            <a:r>
              <a:rPr kumimoji="0" lang="uk-UA" sz="1700" b="0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Адміністратор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розклад, абонементи, фінансова звітність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2532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Викладач-тренер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власні групи, журнал відвідуваності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3880" y="2532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Учень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83880" y="3108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розклад, стан абонементу, оплата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Ведення розкладу занять з автоматичною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перевіркою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конфліктів.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Облік відвідуваності з автоматичним списанням занять з абонементу</a:t>
            </a:r>
            <a:r>
              <a:rPr lang="en-US" sz="15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Управління абонементами та онлайн-оплата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через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LiqPay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Аналіз проблеми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96313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Проблеми ручного управління студією</a:t>
            </a:r>
            <a:r>
              <a:rPr kumimoji="0" lang="ru-RU" sz="1500" b="1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озпорошеність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даних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розклад, платежі й відвідуваність ведуться в різних, не зв'язаних між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собою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джерелах;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омилки обліку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абонементів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пропущена відмітка означає, що студія надає заняття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понад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оплачені;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учна перевірка конфліктів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розкладу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перетин зали чи викладача виявляється вже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перед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заняттям;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повіщення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вручну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повідомлення про зміни в розкладі надсилаються особисто й доходять не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всім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вчасно;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ідсутність ролі викладача-тренера як окремого учасника в жодному з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відомих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рішень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7617E1A-3293-01A4-2B27-53DB9C6C6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0544" y="4157019"/>
            <a:ext cx="3261669" cy="2609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latin typeface="Arial" pitchFamily="34" charset="0"/>
                <a:ea typeface="Arial" pitchFamily="34" charset="-122"/>
                <a:cs typeface="Arial" pitchFamily="34" charset="-120"/>
              </a:rPr>
              <a:t>Аналіз існуючих рішень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7E2D2D-FD7F-9DE4-0249-2B5E0BC3B92B}"/>
              </a:ext>
            </a:extLst>
          </p:cNvPr>
          <p:cNvSpPr txBox="1"/>
          <p:nvPr/>
        </p:nvSpPr>
        <p:spPr>
          <a:xfrm>
            <a:off x="6197081" y="3540580"/>
            <a:ext cx="5647039" cy="2358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500" b="1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Переваги</a:t>
            </a:r>
            <a:r>
              <a:rPr lang="en-US" sz="150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конкурентів</a:t>
            </a:r>
            <a:r>
              <a:rPr lang="en-US" sz="150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:</a:t>
            </a:r>
            <a:endParaRPr lang="uk-UA" sz="1500" b="1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endParaRPr lang="uk-UA"/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я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кісний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відеоконтент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і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портфоліо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стилів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на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сайті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;</a:t>
            </a:r>
            <a:endParaRPr lang="uk-UA" sz="16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ростий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вибір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стилю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занять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прямо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з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головної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сторінки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;</a:t>
            </a:r>
            <a:endParaRPr lang="uk-UA" sz="16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г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отовий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потік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онлайн-запису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оплати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;</a:t>
            </a:r>
            <a:endParaRPr lang="uk-UA" sz="16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з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рілий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продукт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з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повним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циклом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функцій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(Mindbody).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1FE2F-997C-A742-FBB3-5A8503DA6AEE}"/>
              </a:ext>
            </a:extLst>
          </p:cNvPr>
          <p:cNvSpPr txBox="1"/>
          <p:nvPr/>
        </p:nvSpPr>
        <p:spPr>
          <a:xfrm>
            <a:off x="1960605" y="1380892"/>
            <a:ext cx="796598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All Stars Dance Centre</a:t>
            </a:r>
            <a:r>
              <a:rPr lang="uk-UA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en-US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Dance Studio Luna</a:t>
            </a:r>
            <a:r>
              <a:rPr lang="uk-UA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en-US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1MILLION Dance Studio</a:t>
            </a:r>
            <a:r>
              <a:rPr lang="uk-UA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en-US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Mindbody</a:t>
            </a:r>
            <a:r>
              <a:rPr lang="uk-UA" sz="14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450" b="1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01519E-6FFB-09FD-5415-4B1F14F5C8B9}"/>
              </a:ext>
            </a:extLst>
          </p:cNvPr>
          <p:cNvSpPr txBox="1"/>
          <p:nvPr/>
        </p:nvSpPr>
        <p:spPr>
          <a:xfrm>
            <a:off x="747224" y="3540580"/>
            <a:ext cx="5449857" cy="2265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500" b="1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Недоліки</a:t>
            </a:r>
            <a:r>
              <a:rPr lang="en-US" sz="150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конкурентів</a:t>
            </a:r>
            <a:r>
              <a:rPr lang="en-US" sz="150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:</a:t>
            </a:r>
            <a:endParaRPr lang="uk-UA" sz="1500" b="1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defTabSz="914400"/>
            <a:endParaRPr lang="uk-UA" sz="1500" b="1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с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татичний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розклад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без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онлайн-запису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й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оплати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;</a:t>
            </a:r>
            <a:endParaRPr lang="uk-UA" sz="16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ідсутність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особистого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кабінету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учня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;</a:t>
            </a:r>
            <a:endParaRPr lang="uk-UA" sz="16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н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емає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ролі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викладача-тренера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в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системі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;</a:t>
            </a:r>
            <a:endParaRPr lang="uk-UA" sz="16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 defTabSz="914400">
              <a:lnSpc>
                <a:spcPct val="122000"/>
              </a:lnSpc>
              <a:spcAft>
                <a:spcPts val="1400"/>
              </a:spcAft>
              <a:buSzPct val="100000"/>
              <a:buFontTx/>
              <a:buChar char="▪"/>
            </a:pPr>
            <a:r>
              <a:rPr lang="ru-RU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исока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вартість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підписки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для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err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іноземних</a:t>
            </a:r>
            <a:r>
              <a:rPr lang="en-US" sz="16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 SaaS.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4B2AD9E-7ADF-5602-EE22-E6BD3DE27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73" y="2023686"/>
            <a:ext cx="3102264" cy="8487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E43F8F-AD85-06AC-1DEE-BC8968E64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0517" y="1837440"/>
            <a:ext cx="1960187" cy="1221224"/>
          </a:xfrm>
          <a:prstGeom prst="rect">
            <a:avLst/>
          </a:prstGeom>
        </p:spPr>
      </p:pic>
      <p:pic>
        <p:nvPicPr>
          <p:cNvPr id="28" name="Picture 27" descr="1MILLION Dance Studio - YouTube">
            <a:extLst>
              <a:ext uri="{FF2B5EF4-FFF2-40B4-BE49-F238E27FC236}">
                <a16:creationId xmlns:a16="http://schemas.microsoft.com/office/drawing/2014/main" id="{E8D639C8-5B15-D0B5-943C-C3AD200E58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667" b="26794"/>
          <a:stretch>
            <a:fillRect/>
          </a:stretch>
        </p:blipFill>
        <p:spPr>
          <a:xfrm>
            <a:off x="5833435" y="1872037"/>
            <a:ext cx="2515947" cy="1221224"/>
          </a:xfrm>
          <a:prstGeom prst="rect">
            <a:avLst/>
          </a:prstGeom>
        </p:spPr>
      </p:pic>
      <p:pic>
        <p:nvPicPr>
          <p:cNvPr id="29" name="Picture 28" descr="Brand Resources | Mindbody">
            <a:extLst>
              <a:ext uri="{FF2B5EF4-FFF2-40B4-BE49-F238E27FC236}">
                <a16:creationId xmlns:a16="http://schemas.microsoft.com/office/drawing/2014/main" id="{3C822B4A-1502-9D13-2286-104B06489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907" y="1837440"/>
            <a:ext cx="2457373" cy="129041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задачі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907059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uk-UA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еєстрація учнів і викладачів, ведення профілів з прив'язкою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груп;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5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ормування тижневого розкладу з автоматичною перевіркою конфліктів залу й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викладача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5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ідмітка присутності з автоматичним списанням заняття з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абонементу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5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правління абонементами: активація, залишок занять,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дата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закінчення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5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еєстрація платежів і фінансова звітність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період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5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собистий кабінет для кожної ролі з відповідними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обмеженнями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доступу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5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ахищена авторизація на основі JWT-токенів з перевіркою ролі на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кожному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запиті</a:t>
            </a:r>
            <a:r>
              <a:rPr kumimoji="0" lang="en-US" sz="15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3FBF0C8-6F92-5D4B-3B89-8BFB7ACB3D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7474" y="3328993"/>
            <a:ext cx="3355612" cy="2883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1ED7F8-2468-5848-2696-7E9965A7CF76}"/>
              </a:ext>
            </a:extLst>
          </p:cNvPr>
          <p:cNvSpPr txBox="1"/>
          <p:nvPr/>
        </p:nvSpPr>
        <p:spPr>
          <a:xfrm>
            <a:off x="548640" y="1333380"/>
            <a:ext cx="6096000" cy="35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2000"/>
              </a:lnSpc>
              <a:spcAft>
                <a:spcPts val="1100"/>
              </a:spcAft>
              <a:buSzPct val="100000"/>
              <a:defRPr/>
            </a:pPr>
            <a:r>
              <a:rPr lang="uk-UA" sz="1550" b="1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Продукт, що розробляється, має виконувати такi задачi:</a:t>
            </a:r>
            <a:endParaRPr lang="en-US" sz="1550" b="1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Використані технології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Клієнтська частина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640080" cy="27432"/>
          </a:xfrm>
          <a:prstGeom prst="rect">
            <a:avLst/>
          </a:prstGeom>
          <a:solidFill>
            <a:srgbClr val="3A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React.js + TypeScript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CSS Modules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React Router DOM 7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React Context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Серверна частина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26280" y="2240280"/>
            <a:ext cx="640080" cy="27432"/>
          </a:xfrm>
          <a:prstGeom prst="rect">
            <a:avLst/>
          </a:prstGeom>
          <a:solidFill>
            <a:srgbClr val="3A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2423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JWT, bcrypt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Nodemailer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151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Дані та інтеграції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0" y="2240280"/>
            <a:ext cx="640080" cy="27432"/>
          </a:xfrm>
          <a:prstGeom prst="rect">
            <a:avLst/>
          </a:prstGeom>
          <a:solidFill>
            <a:srgbClr val="3A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24231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LiqPay API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Vitest (тестування)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DADAD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Chrome DevTools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Архітектура системи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Трирівнева архітектура: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4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лієнт (React SPA) – відображення даних і реакція на дії користувача,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без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бізнес-логіки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4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ервер (Node.js / Express REST API) – автентифікація, бізнес-правила, єдина точка доступу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бази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4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ані (MySQL) – 13 таблиць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реляційної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моделі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Серверна частина організована за MVC у 4 шари: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Routes – маршрути й middleware перевірки JWT/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ролі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Controllers – приймають запит,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формують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Services – бізнес-логіка, незалежна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від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HTTP;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Repositories – єдина точка доступу до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бази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даних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57546" y="6158196"/>
            <a:ext cx="23016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8A8A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Діаграма розгортання веб-системи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9E4711-3783-D12C-7CBC-5EE3FBEA25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162" y="1244127"/>
            <a:ext cx="5252198" cy="4693182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latin typeface="Arial" pitchFamily="34" charset="0"/>
                <a:ea typeface="Arial" pitchFamily="34" charset="-122"/>
                <a:cs typeface="Arial" pitchFamily="34" charset="-120"/>
              </a:rPr>
              <a:t>Проєктування бази даних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937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Профіль викладача, тарифи й активовані абонементи винесені в </a:t>
            </a:r>
            <a:r>
              <a:rPr lang="en-US" sz="1400" err="1">
                <a:latin typeface="Arial" pitchFamily="34" charset="0"/>
                <a:ea typeface="Arial" pitchFamily="34" charset="-122"/>
                <a:cs typeface="Arial" pitchFamily="34" charset="-120"/>
              </a:rPr>
              <a:t>окремі</a:t>
            </a: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 таблиці</a:t>
            </a:r>
            <a:r>
              <a:rPr lang="uk-UA" sz="140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/>
          </a:p>
          <a:p>
            <a:pPr marL="228600" indent="-2286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Каскадне видалення там, де дочірні записи втрачають сенс </a:t>
            </a:r>
            <a:r>
              <a:rPr lang="en-US" sz="1400" err="1">
                <a:latin typeface="Arial" pitchFamily="34" charset="0"/>
                <a:ea typeface="Arial" pitchFamily="34" charset="-122"/>
                <a:cs typeface="Arial" pitchFamily="34" charset="-120"/>
              </a:rPr>
              <a:t>без</a:t>
            </a: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 батьківського</a:t>
            </a:r>
            <a:r>
              <a:rPr lang="uk-UA" sz="140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/>
          </a:p>
          <a:p>
            <a:pPr marL="228600" indent="-2286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ON DELETE RESTRICT для attendances і payments – історія </a:t>
            </a:r>
            <a:r>
              <a:rPr lang="en-US" sz="1400" err="1">
                <a:latin typeface="Arial" pitchFamily="34" charset="0"/>
                <a:ea typeface="Arial" pitchFamily="34" charset="-122"/>
                <a:cs typeface="Arial" pitchFamily="34" charset="-120"/>
              </a:rPr>
              <a:t>зберігається</a:t>
            </a: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 завжди</a:t>
            </a:r>
            <a:r>
              <a:rPr lang="uk-UA" sz="140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/>
          </a:p>
          <a:p>
            <a:pPr marL="228600" indent="-228600">
              <a:lnSpc>
                <a:spcPct val="12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Складені індекси для перевірки конфліктів розкладу та пошуку </a:t>
            </a:r>
            <a:r>
              <a:rPr lang="en-US" sz="1400" err="1">
                <a:latin typeface="Arial" pitchFamily="34" charset="0"/>
                <a:ea typeface="Arial" pitchFamily="34" charset="-122"/>
                <a:cs typeface="Arial" pitchFamily="34" charset="-120"/>
              </a:rPr>
              <a:t>активного</a:t>
            </a: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err="1">
                <a:latin typeface="Arial" pitchFamily="34" charset="0"/>
                <a:ea typeface="Arial" pitchFamily="34" charset="-122"/>
                <a:cs typeface="Arial" pitchFamily="34" charset="-120"/>
              </a:rPr>
              <a:t>абонементу</a:t>
            </a:r>
            <a:r>
              <a:rPr lang="en-US" sz="140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/>
          </a:p>
        </p:txBody>
      </p:sp>
      <p:pic>
        <p:nvPicPr>
          <p:cNvPr id="6" name="Image 0" descr="/home/claude/pptx_work/image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581" y="708413"/>
            <a:ext cx="5249305" cy="5738107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генерації розкладу занять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6792" y="1495168"/>
            <a:ext cx="4361111" cy="4642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Складання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розкладу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NP-важка задача, точного поліноміального рішення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існує</a:t>
            </a:r>
            <a:r>
              <a:rPr lang="uk-UA" sz="15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Реалізовано backtracking-пошук з евристиками MRV і LCV (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ScheduleGeneratorService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kumimoji="0" lang="uk-UA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Жорсткі обмеження: зала, викладач і група не можуть перетинатись у часі</a:t>
            </a:r>
            <a:r>
              <a:rPr lang="uk-UA" sz="15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 defTabSz="914400">
              <a:lnSpc>
                <a:spcPct val="122000"/>
              </a:lnSpc>
              <a:spcAft>
                <a:spcPts val="1000"/>
              </a:spcAft>
              <a:buSzPct val="100000"/>
              <a:buFontTx/>
              <a:buChar char="▪"/>
              <a:defRPr/>
            </a:pPr>
            <a:r>
              <a:rPr lang="ru-RU" sz="150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М'які обмеження: прайм-тайм, розподіл по днях, місткість зали, вікна викладача.</a:t>
            </a:r>
            <a:endParaRPr lang="en-US" sz="1500">
              <a:solidFill>
                <a:srgbClr val="2A2A26"/>
              </a:solidFill>
              <a:latin typeface="Arial" pitchFamily="34" charset="0"/>
              <a:cs typeface="Arial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На кожному кроці обирається заняття з найменшим доменом варіантів (MRV)</a:t>
            </a:r>
            <a:r>
              <a:rPr kumimoji="0" lang="uk-UA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чернетка розкладу, яку адміністратор переглядає й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публікує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2A2A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вручну</a:t>
            </a:r>
            <a:r>
              <a:rPr lang="en-US" sz="150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9B2DD-A378-9035-DBB9-D436BE2C2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636" y="1194488"/>
            <a:ext cx="7302205" cy="41212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060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Транзакційне списання заняття з абонементу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801707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6561" y="1553038"/>
            <a:ext cx="5911878" cy="298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Відмітка відвідуваності й списання заняття мають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виконуватись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атомарно</a:t>
            </a:r>
            <a:r>
              <a:rPr lang="uk-UA" sz="15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Без транзакції два паралельні запити можуть списати лише одне заняття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замість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двох</a:t>
            </a:r>
            <a:r>
              <a:rPr lang="uk-UA" sz="15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Рівень ізоляції READ COMMITTED, рядок блокується через SELECT … FOR UPDATE</a:t>
            </a:r>
            <a:r>
              <a:rPr kumimoji="0" lang="uk-UA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ru-RU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Масова відмітка групи – кожен студент в окремій транзакції, помилки не зупиняють обробку решти</a:t>
            </a:r>
            <a:r>
              <a:rPr lang="uk-UA" sz="15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6F8125-00BD-9B5A-9D9A-1A6AD4F24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91" y="978175"/>
            <a:ext cx="4645736" cy="57551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Дизайн системи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Темний фон з кислотно-лаймовим 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акцентом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знижує втому очей при 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тривалій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роботі</a:t>
            </a:r>
            <a:r>
              <a:rPr lang="uk-UA" sz="14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Контрастність акцент/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фон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– 15.5:1, рівень AAA стандарту WCAG 2.1</a:t>
            </a:r>
            <a:r>
              <a:rPr kumimoji="0" lang="uk-UA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Unbounded для заголовків, Space Mono для цифр, Mulish для 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основного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тексту</a:t>
            </a:r>
            <a:r>
              <a:rPr lang="uk-UA" sz="14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Бічна панель навігації 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зліва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kumimoji="0" lang="ru-RU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яка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адаптується під 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користувача</a:t>
            </a:r>
            <a:r>
              <a:rPr lang="uk-UA" sz="14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Адаптивність від 360px </a:t>
            </a:r>
            <a:r>
              <a:rPr kumimoji="0" lang="en-US" sz="14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1920px</a:t>
            </a:r>
            <a:r>
              <a:rPr lang="en-US" sz="14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home/claude/pptx_work/image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28531"/>
            <a:ext cx="2331720" cy="2966697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7" name="Image 1" descr="/home/claude/pptx_work/images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860095"/>
            <a:ext cx="2834640" cy="3503571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користувача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/home/claude/pptx_work/image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857" y="1371600"/>
            <a:ext cx="9284925" cy="493776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486327" y="6405372"/>
            <a:ext cx="3875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8A8A8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Адміністративний дашборд із зведеними показниками студії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 користувача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/home/claude/pptx_work/image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0592"/>
            <a:ext cx="5349240" cy="3488336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6" name="Image 1" descr="/home/claude/pptx_work/images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11964"/>
            <a:ext cx="5349240" cy="3365591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12304" y="575289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6B6B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Відмітка відвідуваності у кабінеті викладача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6245352" y="575289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>
                <a:ln>
                  <a:noFill/>
                </a:ln>
                <a:solidFill>
                  <a:srgbClr val="6B6B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Редагування й публікація згенерованого розкладу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Тестування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Ручне функціональне тестування: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3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еревірка через інтерфейс і Swagger UI: некоректні дані, токени,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статуси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401/403/429;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3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даптивність на 375 / 768 / 1440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px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3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локування форми при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конфлікті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розкладу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Модульне тестування (Vitest):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 тестів перетину часових інтервалів, 4 тести </a:t>
            </a:r>
            <a:r>
              <a:rPr kumimoji="0" lang="en-US" sz="135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списання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абонементу</a:t>
            </a:r>
            <a:r>
              <a:rPr kumimoji="0" lang="ru-RU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6 тестів оцінки якості розміщення заняття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ru-RU" sz="13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</a:t>
            </a:r>
            <a:r>
              <a:rPr kumimoji="0" lang="ru-RU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ормування JWT-токенів та транзакційне списання при паралельних запитах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ru-RU" sz="1350" b="0" i="0" u="none" strike="noStrike" kern="1200" cap="none" spc="0" normalizeH="0" baseline="0" noProof="0">
              <a:ln>
                <a:noFill/>
              </a:ln>
              <a:solidFill>
                <a:srgbClr val="E7E7E2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35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</a:t>
            </a: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сі тести пройшли без помилок.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/home/claude/pptx_work/images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035" y="3520440"/>
            <a:ext cx="4187851" cy="246888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6952191" y="6068568"/>
            <a:ext cx="396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7A7A7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 Vitest та звіт Lighthouse для сторінки розкладу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BC5FEC-7419-EE03-F8C1-35BEBA4050A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69102" y="663575"/>
            <a:ext cx="6299835" cy="26739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Підсумки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005840" cy="41148"/>
          </a:xfrm>
          <a:prstGeom prst="rect">
            <a:avLst/>
          </a:prstGeom>
          <a:solidFill>
            <a:srgbClr val="C8F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365992" y="6309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Розроблено повнофункціональну веб-систему для управління танцювальною студією з трьома рольовими кабінетами.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Інтерактивний розклад з автоматичною генерацією та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перевіркою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конфліктів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uk-UA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ідмітка відвідуваності з автоматичним списанням занять з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абонементу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нтеграція онлайн-оплати через платіжний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шлюз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LiqPay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5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налітична панель адміністратора зі зведеними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показниками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студії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C8FA3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Перспективи розвитку: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4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ідтримка кількох філій у межах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однієї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платформи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4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озробка нативного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мобільного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застосунку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uk-UA" sz="1400">
                <a:solidFill>
                  <a:srgbClr val="E7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озширення аналітичного модуля до рівня CRM для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мережі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студій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7E7E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3042</TotalTime>
  <Words>1032</Words>
  <Application>Microsoft Office PowerPoint</Application>
  <PresentationFormat>Widescreen</PresentationFormat>
  <Paragraphs>164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Oksana Lavrovich</dc:creator>
  <cp:lastModifiedBy>Oksana Lavrovich</cp:lastModifiedBy>
  <cp:revision>1</cp:revision>
  <dcterms:created xsi:type="dcterms:W3CDTF">2026-06-19T21:41:46Z</dcterms:created>
  <dcterms:modified xsi:type="dcterms:W3CDTF">2026-07-09T03:15:03Z</dcterms:modified>
</cp:coreProperties>
</file>